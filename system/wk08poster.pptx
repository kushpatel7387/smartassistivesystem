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Lst>
  <p:notesMasterIdLst>
    <p:notesMasterId r:id="rId3"/>
  </p:notesMasterIdLst>
  <p:handoutMasterIdLst>
    <p:handoutMasterId r:id="rId4"/>
  </p:handoutMasterIdLst>
  <p:sldIdLst>
    <p:sldId id="264" r:id="rId2"/>
  </p:sldIdLst>
  <p:sldSz cx="43891200" cy="32918400"/>
  <p:notesSz cx="6858000" cy="9144000"/>
  <p:defaultText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662" userDrawn="1">
          <p15:clr>
            <a:srgbClr val="A4A3A4"/>
          </p15:clr>
        </p15:guide>
        <p15:guide id="2" orient="horz" pos="2074" userDrawn="1">
          <p15:clr>
            <a:srgbClr val="A4A3A4"/>
          </p15:clr>
        </p15:guide>
        <p15:guide id="3" orient="horz" pos="17280" userDrawn="1">
          <p15:clr>
            <a:srgbClr val="A4A3A4"/>
          </p15:clr>
        </p15:guide>
        <p15:guide id="4" orient="horz" pos="10368" userDrawn="1">
          <p15:clr>
            <a:srgbClr val="A4A3A4"/>
          </p15:clr>
        </p15:guide>
        <p15:guide id="5" pos="25574" userDrawn="1">
          <p15:clr>
            <a:srgbClr val="A4A3A4"/>
          </p15:clr>
        </p15:guide>
        <p15:guide id="6" pos="13824" userDrawn="1">
          <p15:clr>
            <a:srgbClr val="A4A3A4"/>
          </p15:clr>
        </p15:guide>
        <p15:guide id="7" pos="20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B34"/>
    <a:srgbClr val="141313"/>
    <a:srgbClr val="008EC8"/>
    <a:srgbClr val="AFC82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0" autoAdjust="0"/>
    <p:restoredTop sz="94694"/>
  </p:normalViewPr>
  <p:slideViewPr>
    <p:cSldViewPr snapToGrid="0" snapToObjects="1" showGuides="1">
      <p:cViewPr>
        <p:scale>
          <a:sx n="44" d="100"/>
          <a:sy n="44" d="100"/>
        </p:scale>
        <p:origin x="27" y="21"/>
      </p:cViewPr>
      <p:guideLst>
        <p:guide orient="horz" pos="18662"/>
        <p:guide orient="horz" pos="2074"/>
        <p:guide orient="horz" pos="17280"/>
        <p:guide orient="horz" pos="10368"/>
        <p:guide pos="25574"/>
        <p:guide pos="13824"/>
        <p:guide pos="2074"/>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ng Sureshbhai Prajapati" userId="154aa9a0-56cb-4c77-b76e-8160eea2b5fa" providerId="ADAL" clId="{8CE20E05-7577-4CD5-82B6-C54341BB9624}"/>
    <pc:docChg chg="undo custSel modSld">
      <pc:chgData name="Sarang Sureshbhai Prajapati" userId="154aa9a0-56cb-4c77-b76e-8160eea2b5fa" providerId="ADAL" clId="{8CE20E05-7577-4CD5-82B6-C54341BB9624}" dt="2026-04-13T17:10:10.823" v="1056"/>
      <pc:docMkLst>
        <pc:docMk/>
      </pc:docMkLst>
      <pc:sldChg chg="addSp delSp modSp mod">
        <pc:chgData name="Sarang Sureshbhai Prajapati" userId="154aa9a0-56cb-4c77-b76e-8160eea2b5fa" providerId="ADAL" clId="{8CE20E05-7577-4CD5-82B6-C54341BB9624}" dt="2026-04-13T17:10:10.823" v="1056"/>
        <pc:sldMkLst>
          <pc:docMk/>
          <pc:sldMk cId="2081111184" sldId="264"/>
        </pc:sldMkLst>
        <pc:spChg chg="mod">
          <ac:chgData name="Sarang Sureshbhai Prajapati" userId="154aa9a0-56cb-4c77-b76e-8160eea2b5fa" providerId="ADAL" clId="{8CE20E05-7577-4CD5-82B6-C54341BB9624}" dt="2026-03-16T17:40:52.244" v="1047" actId="20577"/>
          <ac:spMkLst>
            <pc:docMk/>
            <pc:sldMk cId="2081111184" sldId="264"/>
            <ac:spMk id="3" creationId="{00000000-0000-0000-0000-000000000000}"/>
          </ac:spMkLst>
        </pc:spChg>
        <pc:spChg chg="mod">
          <ac:chgData name="Sarang Sureshbhai Prajapati" userId="154aa9a0-56cb-4c77-b76e-8160eea2b5fa" providerId="ADAL" clId="{8CE20E05-7577-4CD5-82B6-C54341BB9624}" dt="2026-04-13T17:09:00.188" v="1048" actId="2711"/>
          <ac:spMkLst>
            <pc:docMk/>
            <pc:sldMk cId="2081111184" sldId="264"/>
            <ac:spMk id="4" creationId="{74ED56EB-DD8C-7D6F-213E-6B8F1D333D63}"/>
          </ac:spMkLst>
        </pc:spChg>
        <pc:spChg chg="mod">
          <ac:chgData name="Sarang Sureshbhai Prajapati" userId="154aa9a0-56cb-4c77-b76e-8160eea2b5fa" providerId="ADAL" clId="{8CE20E05-7577-4CD5-82B6-C54341BB9624}" dt="2026-03-16T17:13:31.549" v="856" actId="20577"/>
          <ac:spMkLst>
            <pc:docMk/>
            <pc:sldMk cId="2081111184" sldId="264"/>
            <ac:spMk id="5" creationId="{0C6E7F35-DE82-E726-7376-BF9F95DB860F}"/>
          </ac:spMkLst>
        </pc:spChg>
        <pc:spChg chg="mod">
          <ac:chgData name="Sarang Sureshbhai Prajapati" userId="154aa9a0-56cb-4c77-b76e-8160eea2b5fa" providerId="ADAL" clId="{8CE20E05-7577-4CD5-82B6-C54341BB9624}" dt="2026-03-16T17:31:41.374" v="1036" actId="20577"/>
          <ac:spMkLst>
            <pc:docMk/>
            <pc:sldMk cId="2081111184" sldId="264"/>
            <ac:spMk id="6" creationId="{08D0C2F6-AF47-8BFD-1BE6-50AB56D7468E}"/>
          </ac:spMkLst>
        </pc:spChg>
        <pc:spChg chg="mod">
          <ac:chgData name="Sarang Sureshbhai Prajapati" userId="154aa9a0-56cb-4c77-b76e-8160eea2b5fa" providerId="ADAL" clId="{8CE20E05-7577-4CD5-82B6-C54341BB9624}" dt="2026-04-13T17:09:08.974" v="1049" actId="2711"/>
          <ac:spMkLst>
            <pc:docMk/>
            <pc:sldMk cId="2081111184" sldId="264"/>
            <ac:spMk id="7" creationId="{586DCEA4-8DE4-3C41-D436-4509D056095B}"/>
          </ac:spMkLst>
        </pc:spChg>
        <pc:spChg chg="mod">
          <ac:chgData name="Sarang Sureshbhai Prajapati" userId="154aa9a0-56cb-4c77-b76e-8160eea2b5fa" providerId="ADAL" clId="{8CE20E05-7577-4CD5-82B6-C54341BB9624}" dt="2026-04-13T17:09:13.536" v="1050" actId="2711"/>
          <ac:spMkLst>
            <pc:docMk/>
            <pc:sldMk cId="2081111184" sldId="264"/>
            <ac:spMk id="8" creationId="{B31CE83F-9BD7-6C1D-A8D6-C807F5A8C8BE}"/>
          </ac:spMkLst>
        </pc:spChg>
        <pc:spChg chg="mod">
          <ac:chgData name="Sarang Sureshbhai Prajapati" userId="154aa9a0-56cb-4c77-b76e-8160eea2b5fa" providerId="ADAL" clId="{8CE20E05-7577-4CD5-82B6-C54341BB9624}" dt="2026-03-16T17:22:40.845" v="1007" actId="20577"/>
          <ac:spMkLst>
            <pc:docMk/>
            <pc:sldMk cId="2081111184" sldId="264"/>
            <ac:spMk id="9" creationId="{165BC3CD-5A24-3DA5-89C3-D5FDD9185E58}"/>
          </ac:spMkLst>
        </pc:spChg>
        <pc:spChg chg="mod">
          <ac:chgData name="Sarang Sureshbhai Prajapati" userId="154aa9a0-56cb-4c77-b76e-8160eea2b5fa" providerId="ADAL" clId="{8CE20E05-7577-4CD5-82B6-C54341BB9624}" dt="2026-03-16T17:22:48.887" v="1008" actId="1076"/>
          <ac:spMkLst>
            <pc:docMk/>
            <pc:sldMk cId="2081111184" sldId="264"/>
            <ac:spMk id="10" creationId="{F49E9447-63F9-9A34-033F-C4F35B2703E2}"/>
          </ac:spMkLst>
        </pc:spChg>
        <pc:spChg chg="add del mod">
          <ac:chgData name="Sarang Sureshbhai Prajapati" userId="154aa9a0-56cb-4c77-b76e-8160eea2b5fa" providerId="ADAL" clId="{8CE20E05-7577-4CD5-82B6-C54341BB9624}" dt="2026-04-13T17:10:10.823" v="1056"/>
          <ac:spMkLst>
            <pc:docMk/>
            <pc:sldMk cId="2081111184" sldId="264"/>
            <ac:spMk id="11" creationId="{60E26B0F-523F-FAEB-C3FF-BCCB1A412541}"/>
          </ac:spMkLst>
        </pc:spChg>
        <pc:spChg chg="add del mod">
          <ac:chgData name="Sarang Sureshbhai Prajapati" userId="154aa9a0-56cb-4c77-b76e-8160eea2b5fa" providerId="ADAL" clId="{8CE20E05-7577-4CD5-82B6-C54341BB9624}" dt="2026-04-13T17:10:10.823" v="1054"/>
          <ac:spMkLst>
            <pc:docMk/>
            <pc:sldMk cId="2081111184" sldId="264"/>
            <ac:spMk id="16" creationId="{9E7E585B-8421-E0DB-E734-58BB4C782D2A}"/>
          </ac:spMkLst>
        </pc:spChg>
        <pc:picChg chg="add mod">
          <ac:chgData name="Sarang Sureshbhai Prajapati" userId="154aa9a0-56cb-4c77-b76e-8160eea2b5fa" providerId="ADAL" clId="{8CE20E05-7577-4CD5-82B6-C54341BB9624}" dt="2026-03-16T17:26:47.054" v="1024" actId="1076"/>
          <ac:picMkLst>
            <pc:docMk/>
            <pc:sldMk cId="2081111184" sldId="264"/>
            <ac:picMk id="25" creationId="{227EA9BB-CE52-B5C8-832D-2AB3E311A35E}"/>
          </ac:picMkLst>
        </pc:picChg>
        <pc:picChg chg="add mod">
          <ac:chgData name="Sarang Sureshbhai Prajapati" userId="154aa9a0-56cb-4c77-b76e-8160eea2b5fa" providerId="ADAL" clId="{8CE20E05-7577-4CD5-82B6-C54341BB9624}" dt="2026-03-16T17:26:53.348" v="1025" actId="1076"/>
          <ac:picMkLst>
            <pc:docMk/>
            <pc:sldMk cId="2081111184" sldId="264"/>
            <ac:picMk id="27" creationId="{A5F51FBF-A96D-54D5-F83E-78F58B872AB9}"/>
          </ac:picMkLst>
        </pc:picChg>
        <pc:picChg chg="add mod modCrop">
          <ac:chgData name="Sarang Sureshbhai Prajapati" userId="154aa9a0-56cb-4c77-b76e-8160eea2b5fa" providerId="ADAL" clId="{8CE20E05-7577-4CD5-82B6-C54341BB9624}" dt="2026-03-16T17:29:23.114" v="1035" actId="1076"/>
          <ac:picMkLst>
            <pc:docMk/>
            <pc:sldMk cId="2081111184" sldId="264"/>
            <ac:picMk id="29" creationId="{93D33A11-37D7-51B7-5BD5-61C6B04B5C0A}"/>
          </ac:picMkLst>
        </pc:picChg>
        <pc:picChg chg="add mod">
          <ac:chgData name="Sarang Sureshbhai Prajapati" userId="154aa9a0-56cb-4c77-b76e-8160eea2b5fa" providerId="ADAL" clId="{8CE20E05-7577-4CD5-82B6-C54341BB9624}" dt="2026-03-16T17:32:43.104" v="1039" actId="27614"/>
          <ac:picMkLst>
            <pc:docMk/>
            <pc:sldMk cId="2081111184" sldId="264"/>
            <ac:picMk id="31" creationId="{692AE721-36C0-91D0-5681-0A0B162D115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AC81C5-AE7A-1044-93C2-6BFF0DD7BC2B}" type="datetimeFigureOut">
              <a:rPr lang="en-US" smtClean="0"/>
              <a:t>4/13/2026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F6EB44-35E4-0D4D-B375-5AD650735949}" type="slidenum">
              <a:rPr lang="en-US" smtClean="0"/>
              <a:t>‹#›</a:t>
            </a:fld>
            <a:endParaRPr lang="en-US"/>
          </a:p>
        </p:txBody>
      </p:sp>
    </p:spTree>
    <p:extLst>
      <p:ext uri="{BB962C8B-B14F-4D97-AF65-F5344CB8AC3E}">
        <p14:creationId xmlns:p14="http://schemas.microsoft.com/office/powerpoint/2010/main" val="42174612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BB8FA7-5BDC-BF4F-AE27-E2122A3D7D4C}" type="datetimeFigureOut">
              <a:rPr lang="en-US" smtClean="0"/>
              <a:t>4/13/2026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9D953D-192A-4F4A-A51F-DC3C7E58A63A}" type="slidenum">
              <a:rPr lang="en-US" smtClean="0"/>
              <a:t>‹#›</a:t>
            </a:fld>
            <a:endParaRPr lang="en-US"/>
          </a:p>
        </p:txBody>
      </p:sp>
    </p:spTree>
    <p:extLst>
      <p:ext uri="{BB962C8B-B14F-4D97-AF65-F5344CB8AC3E}">
        <p14:creationId xmlns:p14="http://schemas.microsoft.com/office/powerpoint/2010/main" val="3146029344"/>
      </p:ext>
    </p:extLst>
  </p:cSld>
  <p:clrMap bg1="lt1" tx1="dk1" bg2="lt2" tx2="dk2" accent1="accent1" accent2="accent2" accent3="accent3" accent4="accent4" accent5="accent5" accent6="accent6" hlink="hlink" folHlink="folHlink"/>
  <p:hf hdr="0" ftr="0" dt="0"/>
  <p:notesStyle>
    <a:lvl1pPr marL="0" algn="l" defTabSz="2194560" rtl="0" eaLnBrk="1" latinLnBrk="0" hangingPunct="1">
      <a:defRPr sz="5760" kern="1200">
        <a:solidFill>
          <a:schemeClr val="tx1"/>
        </a:solidFill>
        <a:latin typeface="+mn-lt"/>
        <a:ea typeface="+mn-ea"/>
        <a:cs typeface="+mn-cs"/>
      </a:defRPr>
    </a:lvl1pPr>
    <a:lvl2pPr marL="2194560" algn="l" defTabSz="2194560" rtl="0" eaLnBrk="1" latinLnBrk="0" hangingPunct="1">
      <a:defRPr sz="5760" kern="1200">
        <a:solidFill>
          <a:schemeClr val="tx1"/>
        </a:solidFill>
        <a:latin typeface="+mn-lt"/>
        <a:ea typeface="+mn-ea"/>
        <a:cs typeface="+mn-cs"/>
      </a:defRPr>
    </a:lvl2pPr>
    <a:lvl3pPr marL="4389120" algn="l" defTabSz="2194560" rtl="0" eaLnBrk="1" latinLnBrk="0" hangingPunct="1">
      <a:defRPr sz="5760" kern="1200">
        <a:solidFill>
          <a:schemeClr val="tx1"/>
        </a:solidFill>
        <a:latin typeface="+mn-lt"/>
        <a:ea typeface="+mn-ea"/>
        <a:cs typeface="+mn-cs"/>
      </a:defRPr>
    </a:lvl3pPr>
    <a:lvl4pPr marL="6583680" algn="l" defTabSz="2194560" rtl="0" eaLnBrk="1" latinLnBrk="0" hangingPunct="1">
      <a:defRPr sz="5760" kern="1200">
        <a:solidFill>
          <a:schemeClr val="tx1"/>
        </a:solidFill>
        <a:latin typeface="+mn-lt"/>
        <a:ea typeface="+mn-ea"/>
        <a:cs typeface="+mn-cs"/>
      </a:defRPr>
    </a:lvl4pPr>
    <a:lvl5pPr marL="8778240" algn="l" defTabSz="2194560" rtl="0" eaLnBrk="1" latinLnBrk="0" hangingPunct="1">
      <a:defRPr sz="5760" kern="1200">
        <a:solidFill>
          <a:schemeClr val="tx1"/>
        </a:solidFill>
        <a:latin typeface="+mn-lt"/>
        <a:ea typeface="+mn-ea"/>
        <a:cs typeface="+mn-cs"/>
      </a:defRPr>
    </a:lvl5pPr>
    <a:lvl6pPr marL="10972800" algn="l" defTabSz="2194560" rtl="0" eaLnBrk="1" latinLnBrk="0" hangingPunct="1">
      <a:defRPr sz="5760" kern="1200">
        <a:solidFill>
          <a:schemeClr val="tx1"/>
        </a:solidFill>
        <a:latin typeface="+mn-lt"/>
        <a:ea typeface="+mn-ea"/>
        <a:cs typeface="+mn-cs"/>
      </a:defRPr>
    </a:lvl6pPr>
    <a:lvl7pPr marL="13167360" algn="l" defTabSz="2194560" rtl="0" eaLnBrk="1" latinLnBrk="0" hangingPunct="1">
      <a:defRPr sz="5760" kern="1200">
        <a:solidFill>
          <a:schemeClr val="tx1"/>
        </a:solidFill>
        <a:latin typeface="+mn-lt"/>
        <a:ea typeface="+mn-ea"/>
        <a:cs typeface="+mn-cs"/>
      </a:defRPr>
    </a:lvl7pPr>
    <a:lvl8pPr marL="15361920" algn="l" defTabSz="2194560" rtl="0" eaLnBrk="1" latinLnBrk="0" hangingPunct="1">
      <a:defRPr sz="5760" kern="1200">
        <a:solidFill>
          <a:schemeClr val="tx1"/>
        </a:solidFill>
        <a:latin typeface="+mn-lt"/>
        <a:ea typeface="+mn-ea"/>
        <a:cs typeface="+mn-cs"/>
      </a:defRPr>
    </a:lvl8pPr>
    <a:lvl9pPr marL="17556480" algn="l" defTabSz="2194560" rtl="0" eaLnBrk="1" latinLnBrk="0" hangingPunct="1">
      <a:defRPr sz="576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Start Slide</a:t>
            </a:r>
          </a:p>
        </p:txBody>
      </p:sp>
      <p:sp>
        <p:nvSpPr>
          <p:cNvPr id="4" name="Slide Number Placeholder 3"/>
          <p:cNvSpPr>
            <a:spLocks noGrp="1"/>
          </p:cNvSpPr>
          <p:nvPr>
            <p:ph type="sldNum" sz="quarter" idx="10"/>
          </p:nvPr>
        </p:nvSpPr>
        <p:spPr/>
        <p:txBody>
          <a:bodyPr/>
          <a:lstStyle/>
          <a:p>
            <a:fld id="{619D953D-192A-4F4A-A51F-DC3C7E58A63A}" type="slidenum">
              <a:rPr lang="en-US" smtClean="0"/>
              <a:t>1</a:t>
            </a:fld>
            <a:endParaRPr lang="en-US"/>
          </a:p>
        </p:txBody>
      </p:sp>
    </p:spTree>
    <p:extLst>
      <p:ext uri="{BB962C8B-B14F-4D97-AF65-F5344CB8AC3E}">
        <p14:creationId xmlns:p14="http://schemas.microsoft.com/office/powerpoint/2010/main" val="1615500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Star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8398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8EC8"/>
        </a:solidFill>
        <a:effectLst/>
      </p:bgPr>
    </p:bg>
    <p:spTree>
      <p:nvGrpSpPr>
        <p:cNvPr id="1" name=""/>
        <p:cNvGrpSpPr/>
        <p:nvPr/>
      </p:nvGrpSpPr>
      <p:grpSpPr>
        <a:xfrm>
          <a:off x="0" y="0"/>
          <a:ext cx="0" cy="0"/>
          <a:chOff x="0" y="0"/>
          <a:chExt cx="0" cy="0"/>
        </a:xfrm>
      </p:grpSpPr>
      <p:sp>
        <p:nvSpPr>
          <p:cNvPr id="4" name="Rectangle 3"/>
          <p:cNvSpPr/>
          <p:nvPr userDrawn="1"/>
        </p:nvSpPr>
        <p:spPr>
          <a:xfrm>
            <a:off x="0" y="-5"/>
            <a:ext cx="43891200" cy="32918400"/>
          </a:xfrm>
          <a:prstGeom prst="rect">
            <a:avLst/>
          </a:prstGeom>
          <a:solidFill>
            <a:srgbClr val="001B3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1472"/>
          </a:p>
        </p:txBody>
      </p:sp>
      <p:pic>
        <p:nvPicPr>
          <p:cNvPr id="6" name="Picture 5">
            <a:extLst>
              <a:ext uri="{FF2B5EF4-FFF2-40B4-BE49-F238E27FC236}">
                <a16:creationId xmlns:a16="http://schemas.microsoft.com/office/drawing/2014/main" id="{5A8F6D44-1D78-D84A-8FFD-F8B914FB69C2}"/>
              </a:ext>
            </a:extLst>
          </p:cNvPr>
          <p:cNvPicPr>
            <a:picLocks noChangeAspect="1"/>
          </p:cNvPicPr>
          <p:nvPr userDrawn="1"/>
        </p:nvPicPr>
        <p:blipFill>
          <a:blip r:embed="rId3"/>
          <a:stretch>
            <a:fillRect/>
          </a:stretch>
        </p:blipFill>
        <p:spPr>
          <a:xfrm>
            <a:off x="42062400" y="29050483"/>
            <a:ext cx="1828800" cy="3867912"/>
          </a:xfrm>
          <a:prstGeom prst="rect">
            <a:avLst/>
          </a:prstGeom>
        </p:spPr>
      </p:pic>
    </p:spTree>
    <p:extLst>
      <p:ext uri="{BB962C8B-B14F-4D97-AF65-F5344CB8AC3E}">
        <p14:creationId xmlns:p14="http://schemas.microsoft.com/office/powerpoint/2010/main" val="1629985653"/>
      </p:ext>
    </p:extLst>
  </p:cSld>
  <p:clrMap bg1="lt1" tx1="dk1" bg2="lt2" tx2="dk2" accent1="accent1" accent2="accent2" accent3="accent3" accent4="accent4" accent5="accent5" accent6="accent6" hlink="hlink" folHlink="folHlink"/>
  <p:sldLayoutIdLst>
    <p:sldLayoutId id="2147483656" r:id="rId1"/>
  </p:sldLayoutIdLst>
  <p:hf hdr="0" dt="0"/>
  <p:txStyles>
    <p:titleStyle>
      <a:lvl1pPr algn="ctr" defTabSz="2194560" rtl="0" eaLnBrk="1" latinLnBrk="0" hangingPunct="1">
        <a:spcBef>
          <a:spcPct val="0"/>
        </a:spcBef>
        <a:buNone/>
        <a:defRPr sz="2112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36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4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2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3000" y="1075849"/>
            <a:ext cx="37307520" cy="2092881"/>
          </a:xfrm>
          <a:prstGeom prst="rect">
            <a:avLst/>
          </a:prstGeom>
          <a:noFill/>
        </p:spPr>
        <p:txBody>
          <a:bodyPr wrap="square" lIns="0" tIns="0" rIns="0" bIns="0" rtlCol="0">
            <a:spAutoFit/>
          </a:bodyPr>
          <a:lstStyle/>
          <a:p>
            <a:r>
              <a:rPr lang="en-CA" sz="8800" dirty="0">
                <a:solidFill>
                  <a:schemeClr val="bg1"/>
                </a:solidFill>
              </a:rPr>
              <a:t>Smart Assistive System</a:t>
            </a:r>
            <a:endParaRPr lang="en-US" sz="8800" spc="480" dirty="0">
              <a:solidFill>
                <a:schemeClr val="bg1"/>
              </a:solidFill>
              <a:latin typeface="ITC Franklin Gothic Std Dm Cd"/>
              <a:cs typeface="ITC Franklin Gothic Std Dm Cd"/>
            </a:endParaRPr>
          </a:p>
          <a:p>
            <a:r>
              <a:rPr lang="en-US" sz="4800" dirty="0">
                <a:solidFill>
                  <a:schemeClr val="bg1"/>
                </a:solidFill>
                <a:latin typeface="ITC Franklin Gothic Std Bk Cd"/>
                <a:cs typeface="ITC Franklin Gothic Std Bk Cd"/>
              </a:rPr>
              <a:t>Krish Patel, Kush Patel, Daksh Rana, </a:t>
            </a:r>
            <a:r>
              <a:rPr lang="en-US" sz="4800">
                <a:solidFill>
                  <a:schemeClr val="bg1"/>
                </a:solidFill>
                <a:latin typeface="ITC Franklin Gothic Std Bk Cd"/>
                <a:cs typeface="ITC Franklin Gothic Std Bk Cd"/>
              </a:rPr>
              <a:t>Sarang Prajapati </a:t>
            </a:r>
            <a:endParaRPr lang="en-US" sz="4800" dirty="0">
              <a:solidFill>
                <a:schemeClr val="bg1"/>
              </a:solidFill>
              <a:latin typeface="ITC Franklin Gothic Std Bk Cd"/>
              <a:cs typeface="ITC Franklin Gothic Std Bk Cd"/>
            </a:endParaRPr>
          </a:p>
        </p:txBody>
      </p:sp>
      <p:sp>
        <p:nvSpPr>
          <p:cNvPr id="4" name="Rectangle 33">
            <a:extLst>
              <a:ext uri="{FF2B5EF4-FFF2-40B4-BE49-F238E27FC236}">
                <a16:creationId xmlns:a16="http://schemas.microsoft.com/office/drawing/2014/main" id="{74ED56EB-DD8C-7D6F-213E-6B8F1D333D63}"/>
              </a:ext>
            </a:extLst>
          </p:cNvPr>
          <p:cNvSpPr>
            <a:spLocks noChangeArrowheads="1"/>
          </p:cNvSpPr>
          <p:nvPr/>
        </p:nvSpPr>
        <p:spPr bwMode="auto">
          <a:xfrm>
            <a:off x="1143000" y="20421600"/>
            <a:ext cx="9829800" cy="115062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panose="020B0506030503020204"/>
                <a:cs typeface="ITC Franklin Gothic Std Bk Cd"/>
              </a:rPr>
              <a:t>ENCLOSURE DESIGN</a:t>
            </a:r>
          </a:p>
          <a:p>
            <a:endParaRPr lang="en-US" sz="2800" dirty="0">
              <a:latin typeface="ITC Franklin Gothic Std Bk Cd" panose="020B0506030503020204"/>
            </a:endParaRPr>
          </a:p>
          <a:p>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sym typeface="Wingdings" panose="05000000000000000000" pitchFamily="2" charset="2"/>
              </a:rPr>
              <a:t>The prototype is designed for active monitoring and is not to be left powered unattended.</a:t>
            </a:r>
          </a:p>
          <a:p>
            <a:pPr marL="457200" indent="-457200">
              <a:buFont typeface="Wingdings" panose="05000000000000000000" pitchFamily="2" charset="2"/>
              <a:buChar char="à"/>
            </a:pPr>
            <a:endParaRPr lang="en-US" sz="2800" dirty="0">
              <a:latin typeface="ITC Franklin Gothic Std Bk Cd" panose="020B0506030503020204"/>
              <a:cs typeface="Georgia" charset="0"/>
              <a:sym typeface="Wingdings" panose="05000000000000000000" pitchFamily="2" charset="2"/>
            </a:endParaRPr>
          </a:p>
          <a:p>
            <a:pPr marL="457200" indent="-457200">
              <a:buFont typeface="Wingdings" panose="05000000000000000000" pitchFamily="2" charset="2"/>
              <a:buChar char="à"/>
            </a:pPr>
            <a:r>
              <a:rPr lang="en-US" sz="2800" dirty="0">
                <a:latin typeface="ITC Franklin Gothic Std Bk Cd" panose="020B0506030503020204"/>
                <a:cs typeface="Georgia" charset="0"/>
                <a:sym typeface="Wingdings" panose="05000000000000000000" pitchFamily="2" charset="2"/>
              </a:rPr>
              <a:t>In alignment with the space below the tray in the Humber North Campus Electronics Parts kit, the overall project maximum dimensions are 32.5cm x 14cm x 7cm (12 13/16" x 5 ½" x 2 ¾").</a:t>
            </a:r>
          </a:p>
          <a:p>
            <a:pPr marL="457200" indent="-457200">
              <a:buFont typeface="Wingdings" panose="05000000000000000000" pitchFamily="2" charset="2"/>
              <a:buChar char="à"/>
            </a:pPr>
            <a:endParaRPr lang="en-US" sz="2800" dirty="0">
              <a:latin typeface="ITC Franklin Gothic Std Bk Cd" panose="020B0506030503020204"/>
              <a:cs typeface="Georgia" charset="0"/>
              <a:sym typeface="Wingdings" panose="05000000000000000000" pitchFamily="2" charset="2"/>
            </a:endParaRPr>
          </a:p>
          <a:p>
            <a:pPr marL="457200" indent="-457200">
              <a:buFont typeface="Wingdings" panose="05000000000000000000" pitchFamily="2" charset="2"/>
              <a:buChar char="à"/>
            </a:pPr>
            <a:r>
              <a:rPr lang="en-US" sz="2800" dirty="0">
                <a:latin typeface="ITC Franklin Gothic Std Bk Cd" panose="020B0506030503020204"/>
                <a:cs typeface="Georgia" charset="0"/>
                <a:sym typeface="Wingdings" panose="05000000000000000000" pitchFamily="2" charset="2"/>
              </a:rPr>
              <a:t>Keeping safety and Z462 in mind, the highest AC voltage utilized is 16Vrms from a wall adapter.</a:t>
            </a:r>
          </a:p>
          <a:p>
            <a:pPr marL="457200" indent="-457200">
              <a:buFont typeface="Wingdings" panose="05000000000000000000" pitchFamily="2" charset="2"/>
              <a:buChar char="à"/>
            </a:pPr>
            <a:endParaRPr lang="en-US" sz="2800" dirty="0">
              <a:latin typeface="ITC Franklin Gothic Std Bk Cd" panose="020B0506030503020204"/>
              <a:cs typeface="Georgia" charset="0"/>
              <a:sym typeface="Wingdings" panose="05000000000000000000" pitchFamily="2" charset="2"/>
            </a:endParaRPr>
          </a:p>
          <a:p>
            <a:pPr marL="457200" indent="-457200">
              <a:buFont typeface="Wingdings" panose="05000000000000000000" pitchFamily="2" charset="2"/>
              <a:buChar char="à"/>
            </a:pPr>
            <a:r>
              <a:rPr lang="en-US" sz="2800" dirty="0">
                <a:latin typeface="ITC Franklin Gothic Std Bk Cd" panose="020B0506030503020204"/>
                <a:cs typeface="Georgia" charset="0"/>
                <a:sym typeface="Wingdings" panose="05000000000000000000" pitchFamily="2" charset="2"/>
              </a:rPr>
              <a:t>Maximum power consumption is strictly capped at 20 Watts to ensure safe operation.</a:t>
            </a:r>
            <a:endParaRPr lang="en-US" sz="2800" dirty="0">
              <a:latin typeface="ITC Franklin Gothic Std Bk Cd" panose="020B0506030503020204"/>
              <a:cs typeface="Georgia" charset="0"/>
            </a:endParaRPr>
          </a:p>
        </p:txBody>
      </p:sp>
      <p:sp>
        <p:nvSpPr>
          <p:cNvPr id="5" name="Rectangle 49">
            <a:extLst>
              <a:ext uri="{FF2B5EF4-FFF2-40B4-BE49-F238E27FC236}">
                <a16:creationId xmlns:a16="http://schemas.microsoft.com/office/drawing/2014/main" id="{0C6E7F35-DE82-E726-7376-BF9F95DB860F}"/>
              </a:ext>
            </a:extLst>
          </p:cNvPr>
          <p:cNvSpPr>
            <a:spLocks noChangeArrowheads="1"/>
          </p:cNvSpPr>
          <p:nvPr/>
        </p:nvSpPr>
        <p:spPr bwMode="auto">
          <a:xfrm>
            <a:off x="1143000" y="4023360"/>
            <a:ext cx="9829800" cy="1563624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INTRODUCTION</a:t>
            </a:r>
          </a:p>
          <a:p>
            <a:endParaRPr lang="en-US" sz="2800" dirty="0">
              <a:latin typeface="Georgia" charset="0"/>
            </a:endParaRPr>
          </a:p>
          <a:p>
            <a:endParaRPr lang="en-US" sz="2800" dirty="0">
              <a:latin typeface="ITC Franklin Gothic Std Bk Cd"/>
            </a:endParaRPr>
          </a:p>
          <a:p>
            <a:pPr marL="457200" indent="-457200">
              <a:buFont typeface="Wingdings" panose="05000000000000000000" pitchFamily="2" charset="2"/>
              <a:buChar char="à"/>
            </a:pPr>
            <a:r>
              <a:rPr lang="en-US" sz="2800" dirty="0">
                <a:latin typeface="ITC Franklin Gothic Std Bk Cd"/>
              </a:rPr>
              <a:t>Context: Individuals needing care or monitoring require systems that support both safety and independence, while caregivers need actionable, real-time insights to respond to events.</a:t>
            </a:r>
          </a:p>
          <a:p>
            <a:pPr marL="457200" indent="-457200">
              <a:buFont typeface="Wingdings" panose="05000000000000000000" pitchFamily="2" charset="2"/>
              <a:buChar char="à"/>
            </a:pPr>
            <a:endParaRPr lang="en-US" sz="2800" dirty="0">
              <a:latin typeface="ITC Franklin Gothic Std Bk Cd"/>
            </a:endParaRPr>
          </a:p>
          <a:p>
            <a:pPr marL="457200" indent="-457200">
              <a:buFont typeface="Wingdings" panose="05000000000000000000" pitchFamily="2" charset="2"/>
              <a:buChar char="à"/>
            </a:pPr>
            <a:r>
              <a:rPr lang="en-US" sz="2800" dirty="0">
                <a:latin typeface="ITC Franklin Gothic Std Bk Cd"/>
              </a:rPr>
              <a:t>Engineering Objective: Design and implement a portable sensor-based device that combines real-time sensing, cloud data management, and an Android monitoring app.</a:t>
            </a:r>
          </a:p>
          <a:p>
            <a:pPr marL="457200" indent="-457200">
              <a:buFont typeface="Wingdings" panose="05000000000000000000" pitchFamily="2" charset="2"/>
              <a:buChar char="à"/>
            </a:pPr>
            <a:endParaRPr lang="en-US" sz="2800" dirty="0">
              <a:latin typeface="ITC Franklin Gothic Std Bk Cd"/>
            </a:endParaRPr>
          </a:p>
          <a:p>
            <a:pPr marL="457200" indent="-457200">
              <a:buFont typeface="Wingdings" panose="05000000000000000000" pitchFamily="2" charset="2"/>
              <a:buChar char="à"/>
            </a:pPr>
            <a:r>
              <a:rPr lang="en-US" sz="2800" dirty="0">
                <a:latin typeface="ITC Franklin Gothic Std Bk Cd"/>
              </a:rPr>
              <a:t>Multi-Sensor Architecture:TSL2591 measures ambient light conditions.VL53L1X measures distance and proximity.TCS34725 senses color (RGB).AS7262 provides spectral sensing (red, orange, yellow, green, blue, violet).</a:t>
            </a:r>
          </a:p>
          <a:p>
            <a:pPr marL="457200" indent="-457200">
              <a:buFont typeface="Wingdings" panose="05000000000000000000" pitchFamily="2" charset="2"/>
              <a:buChar char="à"/>
            </a:pPr>
            <a:endParaRPr lang="en-US" sz="2800" dirty="0">
              <a:latin typeface="ITC Franklin Gothic Std Bk Cd"/>
            </a:endParaRPr>
          </a:p>
          <a:p>
            <a:pPr marL="457200" indent="-457200">
              <a:buFont typeface="Wingdings" panose="05000000000000000000" pitchFamily="2" charset="2"/>
              <a:buChar char="à"/>
            </a:pPr>
            <a:r>
              <a:rPr lang="en-US" sz="2800" dirty="0">
                <a:latin typeface="ITC Franklin Gothic Std Bk Cd"/>
              </a:rPr>
              <a:t>Embedded Processing: A Broadcom single-board computer (Raspberry Pi) performs I²C communication, handles multiplexing, and securely transmits data to the cloud.</a:t>
            </a:r>
          </a:p>
          <a:p>
            <a:pPr marL="457200" indent="-457200">
              <a:buFont typeface="Wingdings" panose="05000000000000000000" pitchFamily="2" charset="2"/>
              <a:buChar char="à"/>
            </a:pPr>
            <a:endParaRPr lang="en-US" sz="2800" dirty="0">
              <a:latin typeface="ITC Franklin Gothic Std Bk Cd"/>
            </a:endParaRPr>
          </a:p>
          <a:p>
            <a:pPr marL="457200" indent="-457200">
              <a:buFont typeface="Wingdings" panose="05000000000000000000" pitchFamily="2" charset="2"/>
              <a:buChar char="à"/>
            </a:pPr>
            <a:r>
              <a:rPr lang="en-US" sz="2800" dirty="0">
                <a:latin typeface="ITC Franklin Gothic Std Bk Cd"/>
              </a:rPr>
              <a:t>Cloud Integration: Sensor data is stored in Firebase Realtime Database, with minimal latency (&lt;1 second) synchronization.</a:t>
            </a:r>
          </a:p>
          <a:p>
            <a:pPr marL="457200" indent="-457200">
              <a:buFont typeface="Wingdings" panose="05000000000000000000" pitchFamily="2" charset="2"/>
              <a:buChar char="à"/>
            </a:pPr>
            <a:endParaRPr lang="en-US" sz="2800" dirty="0">
              <a:latin typeface="ITC Franklin Gothic Std Bk Cd"/>
            </a:endParaRPr>
          </a:p>
          <a:p>
            <a:pPr marL="457200" indent="-457200">
              <a:buFont typeface="Wingdings" panose="05000000000000000000" pitchFamily="2" charset="2"/>
              <a:buChar char="à"/>
            </a:pPr>
            <a:r>
              <a:rPr lang="en-US" sz="2800" dirty="0">
                <a:latin typeface="ITC Franklin Gothic Std Bk Cd"/>
              </a:rPr>
              <a:t>Mobile System: An Android app provides a dashboard, patient management, fall detection, and location tracking.</a:t>
            </a:r>
          </a:p>
          <a:p>
            <a:pPr marL="457200" indent="-457200">
              <a:buFont typeface="Wingdings" panose="05000000000000000000" pitchFamily="2" charset="2"/>
              <a:buChar char="à"/>
            </a:pPr>
            <a:endParaRPr lang="en-US" sz="2800" dirty="0">
              <a:latin typeface="ITC Franklin Gothic Std Bk Cd"/>
            </a:endParaRPr>
          </a:p>
          <a:p>
            <a:pPr marL="457200" indent="-457200">
              <a:buFont typeface="Wingdings" panose="05000000000000000000" pitchFamily="2" charset="2"/>
              <a:buChar char="à"/>
            </a:pPr>
            <a:r>
              <a:rPr lang="en-US" sz="2800" dirty="0">
                <a:latin typeface="ITC Franklin Gothic Std Bk Cd"/>
              </a:rPr>
              <a:t>System Value: Enhances user safety and independence while keeping caregivers informed through automatic alerts and remote monitoring.</a:t>
            </a:r>
          </a:p>
        </p:txBody>
      </p:sp>
      <p:sp>
        <p:nvSpPr>
          <p:cNvPr id="6" name="Rectangle 7">
            <a:extLst>
              <a:ext uri="{FF2B5EF4-FFF2-40B4-BE49-F238E27FC236}">
                <a16:creationId xmlns:a16="http://schemas.microsoft.com/office/drawing/2014/main" id="{08D0C2F6-AF47-8BFD-1BE6-50AB56D7468E}"/>
              </a:ext>
            </a:extLst>
          </p:cNvPr>
          <p:cNvSpPr>
            <a:spLocks noChangeArrowheads="1"/>
          </p:cNvSpPr>
          <p:nvPr/>
        </p:nvSpPr>
        <p:spPr bwMode="auto">
          <a:xfrm>
            <a:off x="11734800" y="4023360"/>
            <a:ext cx="9829800" cy="2790444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PCB ASSEMBLY</a:t>
            </a:r>
          </a:p>
          <a:p>
            <a:endParaRPr lang="en-US" sz="2800" dirty="0">
              <a:latin typeface="ITC Franklin Gothic Std Bk Cd"/>
            </a:endParaRPr>
          </a:p>
          <a:p>
            <a:r>
              <a:rPr lang="en-US" sz="2800" dirty="0">
                <a:latin typeface="ITC Franklin Gothic Std Bk Cd"/>
              </a:rPr>
              <a:t>From Hardware Reports</a:t>
            </a:r>
          </a:p>
          <a:p>
            <a:endParaRPr lang="en-US" sz="2800" dirty="0">
              <a:latin typeface="ITC Franklin Gothic Std Bk Cd"/>
            </a:endParaRPr>
          </a:p>
          <a:p>
            <a:pPr marL="457200" indent="-457200">
              <a:buFont typeface="Wingdings" panose="05000000000000000000" pitchFamily="2" charset="2"/>
              <a:buChar char="à"/>
            </a:pPr>
            <a:r>
              <a:rPr lang="en-US" sz="2800" dirty="0">
                <a:latin typeface="ITC Franklin Gothic Std Bk Cd"/>
                <a:cs typeface="Georgia" charset="0"/>
              </a:rPr>
              <a:t>Development Platform: Broadcom single-board computer (Raspberry Pi) used as the central controller.</a:t>
            </a:r>
          </a:p>
          <a:p>
            <a:pPr marL="457200" indent="-457200">
              <a:buFont typeface="Wingdings" panose="05000000000000000000" pitchFamily="2" charset="2"/>
              <a:buChar char="à"/>
            </a:pPr>
            <a:endParaRPr lang="en-US" sz="2800" dirty="0">
              <a:latin typeface="ITC Franklin Gothic Std Bk Cd"/>
              <a:cs typeface="Georgia" charset="0"/>
            </a:endParaRPr>
          </a:p>
          <a:p>
            <a:pPr marL="457200" indent="-457200">
              <a:buFont typeface="Wingdings" panose="05000000000000000000" pitchFamily="2" charset="2"/>
              <a:buChar char="à"/>
            </a:pPr>
            <a:r>
              <a:rPr lang="en-US" sz="2800" dirty="0">
                <a:latin typeface="ITC Franklin Gothic Std Bk Cd"/>
                <a:cs typeface="Georgia" charset="0"/>
              </a:rPr>
              <a:t>Sensor Integration (I²C Bus):</a:t>
            </a:r>
          </a:p>
          <a:p>
            <a:pPr marL="514350" indent="-514350">
              <a:buFont typeface="+mj-lt"/>
              <a:buAutoNum type="arabicPeriod"/>
            </a:pPr>
            <a:r>
              <a:rPr lang="en-US" sz="2800" dirty="0">
                <a:latin typeface="ITC Franklin Gothic Std Bk Cd"/>
                <a:cs typeface="Georgia" charset="0"/>
              </a:rPr>
              <a:t> TSL2591 (0x29) – Light sensor</a:t>
            </a:r>
          </a:p>
          <a:p>
            <a:pPr marL="514350" indent="-514350">
              <a:buFont typeface="+mj-lt"/>
              <a:buAutoNum type="arabicPeriod"/>
            </a:pPr>
            <a:r>
              <a:rPr lang="en-US" sz="2800" dirty="0">
                <a:latin typeface="ITC Franklin Gothic Std Bk Cd"/>
                <a:cs typeface="Georgia" charset="0"/>
              </a:rPr>
              <a:t> VL53L1X (0x29) – Distance sensor</a:t>
            </a:r>
          </a:p>
          <a:p>
            <a:pPr marL="514350" indent="-514350">
              <a:buFont typeface="+mj-lt"/>
              <a:buAutoNum type="arabicPeriod"/>
            </a:pPr>
            <a:r>
              <a:rPr lang="en-US" sz="2800" dirty="0">
                <a:latin typeface="ITC Franklin Gothic Std Bk Cd"/>
                <a:cs typeface="Georgia" charset="0"/>
              </a:rPr>
              <a:t> TCS34725 (0x29) – Color sensor</a:t>
            </a:r>
          </a:p>
          <a:p>
            <a:pPr marL="514350" indent="-514350">
              <a:buFont typeface="+mj-lt"/>
              <a:buAutoNum type="arabicPeriod"/>
            </a:pPr>
            <a:r>
              <a:rPr lang="en-US" sz="2800" dirty="0">
                <a:latin typeface="ITC Franklin Gothic Std Bk Cd"/>
                <a:cs typeface="Georgia" charset="0"/>
              </a:rPr>
              <a:t> AS7262 (0x49) – Spectral sensor</a:t>
            </a:r>
          </a:p>
          <a:p>
            <a:pPr marL="514350" indent="-514350">
              <a:buFont typeface="+mj-lt"/>
              <a:buAutoNum type="arabicPeriod"/>
            </a:pPr>
            <a:r>
              <a:rPr lang="en-US" sz="2800" dirty="0">
                <a:latin typeface="ITC Franklin Gothic Std Bk Cd"/>
                <a:cs typeface="Georgia" charset="0"/>
              </a:rPr>
              <a:t> TCA9548A – I²C multiplexer utilized to resolve the 0x29 address conflict.</a:t>
            </a:r>
          </a:p>
          <a:p>
            <a:pPr marL="457200" indent="-457200">
              <a:buFont typeface="Wingdings" panose="05000000000000000000" pitchFamily="2" charset="2"/>
              <a:buChar char="à"/>
            </a:pPr>
            <a:endParaRPr lang="en-US" sz="2800" dirty="0">
              <a:latin typeface="ITC Franklin Gothic Std Bk Cd"/>
              <a:cs typeface="Georgia" charset="0"/>
            </a:endParaRPr>
          </a:p>
          <a:p>
            <a:pPr marL="457200" indent="-457200">
              <a:buFont typeface="Wingdings" panose="05000000000000000000" pitchFamily="2" charset="2"/>
              <a:buChar char="à"/>
            </a:pPr>
            <a:r>
              <a:rPr lang="en-US" sz="2800" dirty="0">
                <a:latin typeface="ITC Franklin Gothic Std Bk Cd"/>
                <a:cs typeface="Georgia" charset="0"/>
              </a:rPr>
              <a:t>Electrical Interface: Built-in pull-up resistors on SDA/SCL lines are utilized for stable communication.</a:t>
            </a:r>
          </a:p>
          <a:p>
            <a:pPr marL="457200" indent="-457200">
              <a:buFont typeface="Wingdings" panose="05000000000000000000" pitchFamily="2" charset="2"/>
              <a:buChar char="à"/>
            </a:pPr>
            <a:endParaRPr lang="en-US" sz="2800" dirty="0">
              <a:latin typeface="ITC Franklin Gothic Std Bk Cd"/>
              <a:cs typeface="Georgia" charset="0"/>
            </a:endParaRPr>
          </a:p>
          <a:p>
            <a:pPr marL="457200" indent="-457200">
              <a:buFont typeface="Wingdings" panose="05000000000000000000" pitchFamily="2" charset="2"/>
              <a:buChar char="à"/>
            </a:pPr>
            <a:r>
              <a:rPr lang="en-US" sz="2800" dirty="0">
                <a:latin typeface="ITC Franklin Gothic Std Bk Cd"/>
                <a:cs typeface="Georgia" charset="0"/>
              </a:rPr>
              <a:t>Testing Status: All sensors successfully demonstrated. Raspberry Pi Wi-Fi auto-connect and Python scripting verified.</a:t>
            </a:r>
          </a:p>
          <a:p>
            <a:pPr marL="457200" indent="-457200">
              <a:buFont typeface="Wingdings" panose="05000000000000000000" pitchFamily="2" charset="2"/>
              <a:buChar char="à"/>
            </a:pPr>
            <a:endParaRPr lang="en-US" sz="2800" dirty="0">
              <a:latin typeface="ITC Franklin Gothic Std Bk Cd"/>
              <a:cs typeface="Georgia" charset="0"/>
            </a:endParaRPr>
          </a:p>
          <a:p>
            <a:endParaRPr lang="en-US" sz="2800" dirty="0">
              <a:latin typeface="Georgia" charset="0"/>
              <a:cs typeface="Georgia" charset="0"/>
            </a:endParaRPr>
          </a:p>
        </p:txBody>
      </p:sp>
      <p:sp>
        <p:nvSpPr>
          <p:cNvPr id="7" name="Rectangle 51">
            <a:extLst>
              <a:ext uri="{FF2B5EF4-FFF2-40B4-BE49-F238E27FC236}">
                <a16:creationId xmlns:a16="http://schemas.microsoft.com/office/drawing/2014/main" id="{586DCEA4-8DE4-3C41-D436-4509D056095B}"/>
              </a:ext>
            </a:extLst>
          </p:cNvPr>
          <p:cNvSpPr>
            <a:spLocks noChangeArrowheads="1"/>
          </p:cNvSpPr>
          <p:nvPr/>
        </p:nvSpPr>
        <p:spPr bwMode="auto">
          <a:xfrm>
            <a:off x="22326600" y="4023360"/>
            <a:ext cx="9829800" cy="2790444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panose="020B0506030503020204"/>
                <a:cs typeface="ITC Franklin Gothic Std Bk Cd"/>
              </a:rPr>
              <a:t>MOBILE APP RESULTS</a:t>
            </a:r>
          </a:p>
          <a:p>
            <a:endParaRPr lang="en-US" sz="2800" dirty="0">
              <a:latin typeface="ITC Franklin Gothic Std Bk Cd"/>
            </a:endParaRPr>
          </a:p>
          <a:p>
            <a:r>
              <a:rPr lang="en-US" sz="2800" dirty="0">
                <a:latin typeface="ITC Franklin Gothic Std Bk Cd"/>
              </a:rPr>
              <a:t>From Mobile Deliverables.</a:t>
            </a:r>
          </a:p>
          <a:p>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Modular Design: Android app built with clear separation between UI components, business logic, and utility modules.</a:t>
            </a:r>
          </a:p>
          <a:p>
            <a:pPr marL="457200" indent="-457200">
              <a:buFont typeface="Wingdings" panose="05000000000000000000" pitchFamily="2" charset="2"/>
              <a:buChar char="à"/>
            </a:pPr>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Feature Modules: Includes Login (Email/Google Auth), a Home dashboard, an Alerts module, and a Patient management interface.</a:t>
            </a:r>
          </a:p>
          <a:p>
            <a:pPr marL="457200" indent="-457200">
              <a:buFont typeface="Wingdings" panose="05000000000000000000" pitchFamily="2" charset="2"/>
              <a:buChar char="à"/>
            </a:pPr>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Advanced Capabilities: Integrated Fall detection module, Location tracking service, Feedback screen, and a Voice command routing framework.</a:t>
            </a:r>
          </a:p>
          <a:p>
            <a:pPr marL="457200" indent="-457200">
              <a:buFont typeface="Wingdings" panose="05000000000000000000" pitchFamily="2" charset="2"/>
              <a:buChar char="à"/>
            </a:pPr>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Cloud Sync: Firebase services and notification handling are functioning correctly, providing seamless database updates.</a:t>
            </a:r>
          </a:p>
          <a:p>
            <a:pPr marL="457200" indent="-457200">
              <a:buFont typeface="Wingdings" panose="05000000000000000000" pitchFamily="2" charset="2"/>
              <a:buChar char="à"/>
            </a:pPr>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Stability &amp; Optimization: Fragment transitions are tested and stable; actively optimizing Android foreground services to ensure reliable location tracking against OS background execution limits.</a:t>
            </a:r>
          </a:p>
          <a:p>
            <a:pPr marL="457200" indent="-457200">
              <a:buFont typeface="Wingdings" panose="05000000000000000000" pitchFamily="2" charset="2"/>
              <a:buChar char="à"/>
            </a:pPr>
            <a:endParaRPr lang="en-US" sz="2800" dirty="0">
              <a:latin typeface="ITC Franklin Gothic Std Bk Cd" panose="020B0506030503020204"/>
              <a:cs typeface="Georgia" charset="0"/>
            </a:endParaRPr>
          </a:p>
          <a:p>
            <a:endParaRPr lang="en-US" sz="2800" dirty="0">
              <a:latin typeface="ITC Franklin Gothic Std Bk Cd" panose="020B0506030503020204"/>
              <a:cs typeface="Georgia" charset="0"/>
            </a:endParaRPr>
          </a:p>
        </p:txBody>
      </p:sp>
      <p:sp>
        <p:nvSpPr>
          <p:cNvPr id="8" name="Rectangle 52">
            <a:extLst>
              <a:ext uri="{FF2B5EF4-FFF2-40B4-BE49-F238E27FC236}">
                <a16:creationId xmlns:a16="http://schemas.microsoft.com/office/drawing/2014/main" id="{B31CE83F-9BD7-6C1D-A8D6-C807F5A8C8BE}"/>
              </a:ext>
            </a:extLst>
          </p:cNvPr>
          <p:cNvSpPr>
            <a:spLocks noChangeArrowheads="1"/>
          </p:cNvSpPr>
          <p:nvPr/>
        </p:nvSpPr>
        <p:spPr bwMode="auto">
          <a:xfrm>
            <a:off x="32918400" y="4023360"/>
            <a:ext cx="9829800" cy="12192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panose="020B0506030503020204"/>
                <a:cs typeface="ITC Franklin Gothic Std Bk Cd"/>
              </a:rPr>
              <a:t>DATABASE</a:t>
            </a:r>
          </a:p>
          <a:p>
            <a:endParaRPr lang="en-US" sz="2800" dirty="0">
              <a:latin typeface="ITC Franklin Gothic Std Bk Cd"/>
            </a:endParaRPr>
          </a:p>
          <a:p>
            <a:r>
              <a:rPr lang="en-US" sz="2800" dirty="0">
                <a:latin typeface="ITC Franklin Gothic Std Bk Cd"/>
              </a:rPr>
              <a:t>This poster is 48</a:t>
            </a:r>
            <a:r>
              <a:rPr lang="ja-JP" altLang="en-US" sz="2800" dirty="0">
                <a:latin typeface="ITC Franklin Gothic Std Bk Cd" panose="020B0506030503020204"/>
              </a:rPr>
              <a:t>”</a:t>
            </a:r>
            <a:r>
              <a:rPr lang="en-US" altLang="ja-JP" sz="2800" dirty="0">
                <a:latin typeface="ITC Franklin Gothic Std Bk Cd" panose="020B0506030503020204"/>
              </a:rPr>
              <a:t> x 36</a:t>
            </a:r>
            <a:r>
              <a:rPr lang="ja-JP" altLang="en-US" sz="2800" dirty="0">
                <a:latin typeface="ITC Franklin Gothic Std Bk Cd" panose="020B0506030503020204"/>
              </a:rPr>
              <a:t>”</a:t>
            </a:r>
            <a:endParaRPr lang="en-CA" altLang="ja-JP" sz="2800" dirty="0">
              <a:latin typeface="ITC Franklin Gothic Std Bk Cd" panose="020B0506030503020204"/>
            </a:endParaRPr>
          </a:p>
          <a:p>
            <a:endParaRPr lang="en-CA"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Cloud Platform: Firebase Realtime Database (RTDB) enables stable, real-time sync between the Raspberry Pi and Android app.</a:t>
            </a:r>
          </a:p>
          <a:p>
            <a:pPr marL="457200" indent="-457200">
              <a:buFont typeface="Wingdings" panose="05000000000000000000" pitchFamily="2" charset="2"/>
              <a:buChar char="à"/>
            </a:pPr>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Structured Data: JSON tree divided into four main nodes: Feedback, analytics/events, sensors, and users.</a:t>
            </a:r>
          </a:p>
          <a:p>
            <a:pPr marL="457200" indent="-457200">
              <a:buFont typeface="Wingdings" panose="05000000000000000000" pitchFamily="2" charset="2"/>
              <a:buChar char="à"/>
            </a:pPr>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Live Updates: Python scripts push sensor logs (RGB, distance, light, spectral data, and timestamps) instantly to the console.</a:t>
            </a:r>
          </a:p>
          <a:p>
            <a:pPr marL="457200" indent="-457200">
              <a:buFont typeface="Wingdings" panose="05000000000000000000" pitchFamily="2" charset="2"/>
              <a:buChar char="à"/>
            </a:pPr>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Analytics &amp; Logging: Stores screen views, user IDs, event types, and user feedback (ratings, comments).</a:t>
            </a:r>
          </a:p>
          <a:p>
            <a:pPr marL="457200" indent="-457200">
              <a:buFont typeface="Wingdings" panose="05000000000000000000" pitchFamily="2" charset="2"/>
              <a:buChar char="à"/>
            </a:pPr>
            <a:endParaRPr lang="en-US" sz="2800" dirty="0">
              <a:latin typeface="ITC Franklin Gothic Std Bk Cd" panose="020B0506030503020204"/>
              <a:cs typeface="Georgia" charset="0"/>
            </a:endParaRPr>
          </a:p>
          <a:p>
            <a:pPr marL="457200" indent="-457200">
              <a:buFont typeface="Wingdings" panose="05000000000000000000" pitchFamily="2" charset="2"/>
              <a:buChar char="à"/>
            </a:pPr>
            <a:r>
              <a:rPr lang="en-US" sz="2800" dirty="0">
                <a:latin typeface="ITC Franklin Gothic Std Bk Cd" panose="020B0506030503020204"/>
                <a:cs typeface="Georgia" charset="0"/>
              </a:rPr>
              <a:t>Security &amp; Performance: Actively updating open read/write rules to auth-based rules to prevent privacy risks, and addressing large sensor logs with pagination limits.</a:t>
            </a:r>
          </a:p>
        </p:txBody>
      </p:sp>
      <p:sp>
        <p:nvSpPr>
          <p:cNvPr id="9" name="Rectangle 34">
            <a:extLst>
              <a:ext uri="{FF2B5EF4-FFF2-40B4-BE49-F238E27FC236}">
                <a16:creationId xmlns:a16="http://schemas.microsoft.com/office/drawing/2014/main" id="{165BC3CD-5A24-3DA5-89C3-D5FDD9185E58}"/>
              </a:ext>
            </a:extLst>
          </p:cNvPr>
          <p:cNvSpPr>
            <a:spLocks noChangeArrowheads="1"/>
          </p:cNvSpPr>
          <p:nvPr/>
        </p:nvSpPr>
        <p:spPr bwMode="auto">
          <a:xfrm>
            <a:off x="32904113" y="17069989"/>
            <a:ext cx="9829800" cy="856178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TESTING AND NEXT STEPS</a:t>
            </a:r>
          </a:p>
          <a:p>
            <a:endParaRPr lang="en-US" sz="2800" dirty="0">
              <a:latin typeface="ITC Franklin Gothic Std Bk Cd"/>
            </a:endParaRPr>
          </a:p>
          <a:p>
            <a:pPr marL="514350" indent="-514350">
              <a:buAutoNum type="arabicPeriod"/>
            </a:pPr>
            <a:r>
              <a:rPr lang="en-CA" altLang="ja-JP" sz="2800" dirty="0">
                <a:latin typeface="ITC Franklin Gothic Std Bk Cd"/>
              </a:rPr>
              <a:t>Unit Testing :-Individual sensor validation verified for TSL2591, VL53L1X, TCS34725, and AS7262.</a:t>
            </a:r>
          </a:p>
          <a:p>
            <a:pPr marL="514350" indent="-514350">
              <a:buAutoNum type="arabicPeriod"/>
            </a:pPr>
            <a:r>
              <a:rPr lang="en-CA" altLang="ja-JP" sz="2800" dirty="0">
                <a:latin typeface="ITC Franklin Gothic Std Bk Cd"/>
              </a:rPr>
              <a:t>Integration Testing : End-to-end data pipeline verified: Sensor → Raspberry Pi → Firebase → Android. Mobile workflow testing completed (Authentication, Dashboard navigation, Alert generation).</a:t>
            </a:r>
          </a:p>
          <a:p>
            <a:pPr marL="514350" indent="-514350">
              <a:buAutoNum type="arabicPeriod"/>
            </a:pPr>
            <a:r>
              <a:rPr lang="en-CA" altLang="ja-JP" sz="2800" dirty="0">
                <a:latin typeface="ITC Franklin Gothic Std Bk Cd"/>
              </a:rPr>
              <a:t>Production &amp; Sustainability :- Database performance review planned for high-volume continuous sensor logging. Enclosure dimensions and power limits verified against initial scope.</a:t>
            </a:r>
          </a:p>
          <a:p>
            <a:pPr marL="514350" indent="-514350">
              <a:buAutoNum type="arabicPeriod"/>
            </a:pPr>
            <a:r>
              <a:rPr lang="en-CA" altLang="ja-JP" sz="2800" dirty="0">
                <a:latin typeface="ITC Franklin Gothic Std Bk Cd"/>
              </a:rPr>
              <a:t>Next Steps :- Integrate TCA9548A I²C multiplexer to fully resolve shared 0x29 address conflicts on the hardware bus. Implement Android foreground services to ensure reliable background location tracking. Secure Firebase RTDB rules to protect user privacy and standardize timestamp formats (epoch vs ISO).</a:t>
            </a:r>
          </a:p>
        </p:txBody>
      </p:sp>
      <p:sp>
        <p:nvSpPr>
          <p:cNvPr id="10" name="TextBox 9">
            <a:extLst>
              <a:ext uri="{FF2B5EF4-FFF2-40B4-BE49-F238E27FC236}">
                <a16:creationId xmlns:a16="http://schemas.microsoft.com/office/drawing/2014/main" id="{F49E9447-63F9-9A34-033F-C4F35B2703E2}"/>
              </a:ext>
            </a:extLst>
          </p:cNvPr>
          <p:cNvSpPr txBox="1"/>
          <p:nvPr/>
        </p:nvSpPr>
        <p:spPr>
          <a:xfrm>
            <a:off x="32904113" y="26486403"/>
            <a:ext cx="9815513" cy="4430879"/>
          </a:xfrm>
          <a:prstGeom prst="rect">
            <a:avLst/>
          </a:prstGeom>
          <a:noFill/>
        </p:spPr>
        <p:txBody>
          <a:bodyPr wrap="square" lIns="356616" tIns="356616" rIns="356616" bIns="356616" rtlCol="0">
            <a:noAutofit/>
          </a:bodyPr>
          <a:lstStyle/>
          <a:p>
            <a:r>
              <a:rPr lang="en-US" sz="4000" spc="480" dirty="0">
                <a:solidFill>
                  <a:schemeClr val="bg1"/>
                </a:solidFill>
                <a:latin typeface="ITC Franklin Gothic Std Bk Cd" panose="020B0506030503020204" pitchFamily="34" charset="0"/>
                <a:cs typeface="ITC Franklin Gothic Std Dm Cd"/>
              </a:rPr>
              <a:t>ACKNOWLEDGEMENTS</a:t>
            </a:r>
          </a:p>
          <a:p>
            <a:endParaRPr lang="en-US" sz="2800" dirty="0">
              <a:solidFill>
                <a:schemeClr val="bg1"/>
              </a:solidFill>
              <a:latin typeface="ITC Franklin Gothic Std Bk Cd"/>
              <a:cs typeface="ITC Franklin Gothic Std Bk Cd"/>
            </a:endParaRPr>
          </a:p>
          <a:p>
            <a:r>
              <a:rPr lang="en-US" sz="2800" dirty="0">
                <a:solidFill>
                  <a:schemeClr val="bg1"/>
                </a:solidFill>
                <a:latin typeface="ITC Franklin Gothic Std Bk Cd"/>
                <a:cs typeface="ITC Franklin Gothic Std Bk Cd"/>
              </a:rPr>
              <a:t>Special thanks to our Supervising Faculty, Kris </a:t>
            </a:r>
            <a:r>
              <a:rPr lang="en-US" sz="2800" dirty="0" err="1">
                <a:solidFill>
                  <a:schemeClr val="bg1"/>
                </a:solidFill>
                <a:latin typeface="ITC Franklin Gothic Std Bk Cd"/>
                <a:cs typeface="ITC Franklin Gothic Std Bk Cd"/>
              </a:rPr>
              <a:t>Medri</a:t>
            </a:r>
            <a:r>
              <a:rPr lang="en-US" sz="2800" dirty="0">
                <a:solidFill>
                  <a:schemeClr val="bg1"/>
                </a:solidFill>
                <a:latin typeface="ITC Franklin Gothic Std Bk Cd"/>
                <a:cs typeface="ITC Franklin Gothic Std Bk Cd"/>
              </a:rPr>
              <a:t>, for guidance on this project.</a:t>
            </a:r>
          </a:p>
        </p:txBody>
      </p:sp>
      <p:pic>
        <p:nvPicPr>
          <p:cNvPr id="25" name="Picture 24" descr="The image displays a list of various sensor readings, including spectral, light, color, and distance sensors, for a patient, with values and locations.&#10;&#10;AI-generated content may be incorrect.">
            <a:extLst>
              <a:ext uri="{FF2B5EF4-FFF2-40B4-BE49-F238E27FC236}">
                <a16:creationId xmlns:a16="http://schemas.microsoft.com/office/drawing/2014/main" id="{227EA9BB-CE52-B5C8-832D-2AB3E311A35E}"/>
              </a:ext>
            </a:extLst>
          </p:cNvPr>
          <p:cNvPicPr>
            <a:picLocks noChangeAspect="1"/>
          </p:cNvPicPr>
          <p:nvPr/>
        </p:nvPicPr>
        <p:blipFill>
          <a:blip r:embed="rId3"/>
          <a:stretch>
            <a:fillRect/>
          </a:stretch>
        </p:blipFill>
        <p:spPr>
          <a:xfrm>
            <a:off x="27501527" y="16159031"/>
            <a:ext cx="4258389" cy="9472743"/>
          </a:xfrm>
          <a:prstGeom prst="rect">
            <a:avLst/>
          </a:prstGeom>
        </p:spPr>
      </p:pic>
      <p:pic>
        <p:nvPicPr>
          <p:cNvPr id="27" name="Picture 26" descr="The image displays a user interface for a Smart Assistive System, showing active sensors, walking assistance features, patient account links, and alerts.&#10;&#10;AI-generated content may be incorrect.">
            <a:extLst>
              <a:ext uri="{FF2B5EF4-FFF2-40B4-BE49-F238E27FC236}">
                <a16:creationId xmlns:a16="http://schemas.microsoft.com/office/drawing/2014/main" id="{A5F51FBF-A96D-54D5-F83E-78F58B872AB9}"/>
              </a:ext>
            </a:extLst>
          </p:cNvPr>
          <p:cNvPicPr>
            <a:picLocks noChangeAspect="1"/>
          </p:cNvPicPr>
          <p:nvPr/>
        </p:nvPicPr>
        <p:blipFill>
          <a:blip r:embed="rId4"/>
          <a:stretch>
            <a:fillRect/>
          </a:stretch>
        </p:blipFill>
        <p:spPr>
          <a:xfrm>
            <a:off x="22784870" y="16215360"/>
            <a:ext cx="4258388" cy="9598827"/>
          </a:xfrm>
          <a:prstGeom prst="rect">
            <a:avLst/>
          </a:prstGeom>
        </p:spPr>
      </p:pic>
      <p:pic>
        <p:nvPicPr>
          <p:cNvPr id="29" name="Picture 28" descr="Sarang Ssss&#10;&#10;AI-generated content may be incorrect.">
            <a:extLst>
              <a:ext uri="{FF2B5EF4-FFF2-40B4-BE49-F238E27FC236}">
                <a16:creationId xmlns:a16="http://schemas.microsoft.com/office/drawing/2014/main" id="{93D33A11-37D7-51B7-5BD5-61C6B04B5C0A}"/>
              </a:ext>
            </a:extLst>
          </p:cNvPr>
          <p:cNvPicPr>
            <a:picLocks noChangeAspect="1"/>
          </p:cNvPicPr>
          <p:nvPr/>
        </p:nvPicPr>
        <p:blipFill>
          <a:blip r:embed="rId5"/>
          <a:srcRect b="70705"/>
          <a:stretch>
            <a:fillRect/>
          </a:stretch>
        </p:blipFill>
        <p:spPr>
          <a:xfrm>
            <a:off x="23802006" y="26668817"/>
            <a:ext cx="7399041" cy="4967353"/>
          </a:xfrm>
          <a:prstGeom prst="rect">
            <a:avLst/>
          </a:prstGeom>
        </p:spPr>
      </p:pic>
      <p:pic>
        <p:nvPicPr>
          <p:cNvPr id="31" name="Picture 30" descr="The image shows a clear acrylic case containing a Raspberry Pi, a TSL2591 sensor module, and some cables, all connected and ready for use.&#10;&#10;AI-generated content may be incorrect.">
            <a:extLst>
              <a:ext uri="{FF2B5EF4-FFF2-40B4-BE49-F238E27FC236}">
                <a16:creationId xmlns:a16="http://schemas.microsoft.com/office/drawing/2014/main" id="{692AE721-36C0-91D0-5681-0A0B162D115D}"/>
              </a:ext>
            </a:extLst>
          </p:cNvPr>
          <p:cNvPicPr>
            <a:picLocks noChangeAspect="1"/>
          </p:cNvPicPr>
          <p:nvPr/>
        </p:nvPicPr>
        <p:blipFill>
          <a:blip r:embed="rId6"/>
          <a:stretch>
            <a:fillRect/>
          </a:stretch>
        </p:blipFill>
        <p:spPr>
          <a:xfrm>
            <a:off x="12448206" y="15068550"/>
            <a:ext cx="8572500" cy="15240000"/>
          </a:xfrm>
          <a:prstGeom prst="rect">
            <a:avLst/>
          </a:prstGeom>
        </p:spPr>
      </p:pic>
    </p:spTree>
    <p:extLst>
      <p:ext uri="{BB962C8B-B14F-4D97-AF65-F5344CB8AC3E}">
        <p14:creationId xmlns:p14="http://schemas.microsoft.com/office/powerpoint/2010/main" val="2081111184"/>
      </p:ext>
    </p:extLst>
  </p:cSld>
  <p:clrMapOvr>
    <a:masterClrMapping/>
  </p:clrMapOvr>
</p:sld>
</file>

<file path=ppt/theme/theme1.xml><?xml version="1.0" encoding="utf-8"?>
<a:theme xmlns:a="http://schemas.openxmlformats.org/drawingml/2006/main" name="Humber Section Start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735</TotalTime>
  <Words>777</Words>
  <Application>Microsoft Office PowerPoint</Application>
  <PresentationFormat>Custom</PresentationFormat>
  <Paragraphs>81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Georgia</vt:lpstr>
      <vt:lpstr>ITC Franklin Gothic Std Bk Cd</vt:lpstr>
      <vt:lpstr>ITC Franklin Gothic Std Dm Cd</vt:lpstr>
      <vt:lpstr>Wingdings</vt:lpstr>
      <vt:lpstr>Humber Section Start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SOS Incorporated</dc:creator>
  <cp:lastModifiedBy>Sarang Sureshbhai Prajapati</cp:lastModifiedBy>
  <cp:revision>57</cp:revision>
  <dcterms:created xsi:type="dcterms:W3CDTF">2013-11-05T15:35:21Z</dcterms:created>
  <dcterms:modified xsi:type="dcterms:W3CDTF">2026-04-13T17:10:12Z</dcterms:modified>
</cp:coreProperties>
</file>