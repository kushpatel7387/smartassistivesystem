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sldIdLst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3F04C-A0B6-8C4D-2407-64D12A6951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92098-3A31-3D15-9926-CBDCDDDBD0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1924-55A5-81EA-BBEB-95AF0D41A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B0E7C-00C1-3760-B83C-9848AB649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BA339-BD4E-DA85-68B7-648F28D61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8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5906D-A2C6-EECC-0D4E-F572A7D5F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349DD-2B04-2318-763A-9957C58D8F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A6924-7077-B7AB-0E50-BF3FF356B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04145-2B14-1423-F776-AC8369B81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BDE65-4053-48EB-559F-D49848C7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4735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EB9F8-0DFA-AEB8-DCEF-63A1ADA6C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7B502-FEDB-F4C5-36CC-679D23C49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2A169C-709E-228F-A62D-C10E1CA3B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2298C-3CF9-8D00-59FB-2BD6A0B1D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313703-6520-4CD1-1C4F-C001D2554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4942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C3C3-D40B-B546-E8EF-16628F371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3DE4D-5623-C305-7F21-AFBB6FA76D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618A65-B9BB-F9B4-9561-C1465A9CE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1B1F1-2161-7508-2B04-838A1B029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01D0D-4BFB-ED29-4617-33353882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42031-69EA-5DCB-BB3B-A0B68F0A1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497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9D5F1-E8DE-B796-3C55-053E85E12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5C96B2-A40C-137D-8276-A2D943468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4A173E-F4CA-5E88-9E18-5F48CC4864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CE77C0-C523-7B2B-CDCC-9C5DE62FC0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806FA-92F3-1AF4-6AFD-1EC32BF31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0BF947-A533-7A81-70B1-8DEC5339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3EA1B-53EE-FB2F-1900-E0B021BB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743EA4-D58E-6109-E2D3-3B6F98F39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6739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0DD06-C92B-65B3-893E-087AB5FB3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99ADFA-B159-3185-8E13-BED629A32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0BED46-8C69-2FCE-DEB3-BF6DBF2A3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B440F1-20DA-34EE-F581-5440B61F0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14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B4ECA4-CBC8-D917-3A47-6D8003D62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CFEFC-FE82-6AD2-58CC-161B41926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06039-321A-067D-9412-157236EDD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548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794E6-7A27-466F-BB77-B53E362B7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A85A6-A8C8-8371-EFFE-EC734BCE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341406-976C-54E4-0C59-6D09D31C1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A4EFA7-D8AA-3A9E-61A9-2819FD6C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C56E8-C3CF-52F4-AD8B-1B7C836B2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8DA90-03B0-C0C3-C12F-4C801245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1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86209-62C8-7D12-2EDE-0115AB668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EE643-2D74-4615-567E-8D2E347173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995918-C106-7440-DA99-7B5ECF5196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9F68D3-F4CB-64EC-D378-F3A5D06B8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7D986-8816-4272-A432-0437A28A9828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42A24-3A55-670E-96CD-04C30C263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C27204-BB40-958E-902B-CB495DA0E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5731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A846A-A92C-24C2-A0D2-E5F13B3E6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222531-0A6C-A229-F063-A908EC20D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EA69A-4159-A768-704C-F90A92E7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557E4-BE69-A3CC-96B4-B3B1BFD7C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B45EF9-B42F-F329-C19A-1176E317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596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D5AE1-9C4E-5DD5-9102-BF660F18A2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4F97E-6A21-A861-280C-1366CD5835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8B6F6-31B7-22DC-4401-CD7F104DF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007423-DA31-40D3-E19A-6AAEA13BF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D3623-5843-B463-64A4-E9B9EFAC3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5963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54B6EC-402A-F216-1F57-F4D58C63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F670A-602E-F61E-65EC-8C951A057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FB4653-F2E7-73A8-7129-89D244C651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A20E-7770-3C15-85CA-0E7EE96906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AB183-0319-2699-8F62-48914FC7ED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37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BF4DF2C-F028-4921-9C23-41303F650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3569-73B2-4D05-8E95-886A6EE17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8" y="976787"/>
            <a:ext cx="4412419" cy="3626217"/>
          </a:xfrm>
        </p:spPr>
        <p:txBody>
          <a:bodyPr anchor="t">
            <a:normAutofit/>
          </a:bodyPr>
          <a:lstStyle/>
          <a:p>
            <a:pPr lvl="0"/>
            <a:r>
              <a:rPr lang="en-US" sz="2800" b="1" i="1" dirty="0">
                <a:solidFill>
                  <a:srgbClr val="FFFFFF"/>
                </a:solidFill>
              </a:rPr>
              <a:t>Name: </a:t>
            </a:r>
            <a:r>
              <a:rPr lang="en-US" sz="2800" i="1" dirty="0">
                <a:solidFill>
                  <a:srgbClr val="FFFFFF"/>
                </a:solidFill>
              </a:rPr>
              <a:t>Sarang Prajapati</a:t>
            </a:r>
            <a:br>
              <a:rPr lang="en-US" sz="2800" b="1" i="1" dirty="0">
                <a:solidFill>
                  <a:srgbClr val="FFFFFF"/>
                </a:solidFill>
              </a:rPr>
            </a:br>
            <a:r>
              <a:rPr lang="en-US" sz="2800" b="1" i="1" dirty="0">
                <a:solidFill>
                  <a:srgbClr val="FFFFFF"/>
                </a:solidFill>
              </a:rPr>
              <a:t>Sensor</a:t>
            </a:r>
            <a:r>
              <a:rPr lang="en-US" sz="2800" i="1" dirty="0">
                <a:solidFill>
                  <a:srgbClr val="FFFFFF"/>
                </a:solidFill>
              </a:rPr>
              <a:t>: AS726x Spectral Sensor </a:t>
            </a:r>
            <a:br>
              <a:rPr lang="en-US" sz="2800" i="1" dirty="0">
                <a:solidFill>
                  <a:srgbClr val="FFFFFF"/>
                </a:solidFill>
              </a:rPr>
            </a:br>
            <a:r>
              <a:rPr lang="en-US" sz="2800" b="1" i="1" dirty="0">
                <a:solidFill>
                  <a:srgbClr val="FFFFFF"/>
                </a:solidFill>
              </a:rPr>
              <a:t>I²C Address</a:t>
            </a:r>
            <a:r>
              <a:rPr lang="en-US" sz="2800" i="1" dirty="0">
                <a:solidFill>
                  <a:srgbClr val="FFFFFF"/>
                </a:solidFill>
              </a:rPr>
              <a:t>: 0x49</a:t>
            </a:r>
            <a:br>
              <a:rPr lang="en-US" sz="4400" i="1" dirty="0">
                <a:solidFill>
                  <a:srgbClr val="FFFFFF"/>
                </a:solidFill>
              </a:rPr>
            </a:br>
            <a:endParaRPr lang="en-US" sz="4400" i="1" dirty="0">
              <a:solidFill>
                <a:srgbClr val="FFFFFF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9D27D45-9B2B-B745-F432-903218714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42" y="4542882"/>
            <a:ext cx="5027438" cy="207381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892B7B61-D701-474B-AE8F-EA238B550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512034" y="1267063"/>
            <a:ext cx="368480" cy="519967"/>
            <a:chOff x="11512034" y="1267063"/>
            <a:chExt cx="368480" cy="519967"/>
          </a:xfrm>
          <a:solidFill>
            <a:srgbClr val="FFFFFF"/>
          </a:solidFill>
        </p:grpSpPr>
        <p:sp>
          <p:nvSpPr>
            <p:cNvPr id="17" name="Graphic 17">
              <a:extLst>
                <a:ext uri="{FF2B5EF4-FFF2-40B4-BE49-F238E27FC236}">
                  <a16:creationId xmlns:a16="http://schemas.microsoft.com/office/drawing/2014/main" id="{B71758F4-3F46-45DA-8AC5-4E508DA08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512034" y="1267063"/>
              <a:ext cx="139037" cy="139039"/>
            </a:xfrm>
            <a:custGeom>
              <a:avLst/>
              <a:gdLst>
                <a:gd name="connsiteX0" fmla="*/ 129600 w 139037"/>
                <a:gd name="connsiteY0" fmla="*/ 60082 h 139039"/>
                <a:gd name="connsiteX1" fmla="*/ 78955 w 139037"/>
                <a:gd name="connsiteY1" fmla="*/ 60082 h 139039"/>
                <a:gd name="connsiteX2" fmla="*/ 78955 w 139037"/>
                <a:gd name="connsiteY2" fmla="*/ 9437 h 139039"/>
                <a:gd name="connsiteX3" fmla="*/ 69519 w 139037"/>
                <a:gd name="connsiteY3" fmla="*/ 0 h 139039"/>
                <a:gd name="connsiteX4" fmla="*/ 60082 w 139037"/>
                <a:gd name="connsiteY4" fmla="*/ 9437 h 139039"/>
                <a:gd name="connsiteX5" fmla="*/ 60082 w 139037"/>
                <a:gd name="connsiteY5" fmla="*/ 60082 h 139039"/>
                <a:gd name="connsiteX6" fmla="*/ 9437 w 139037"/>
                <a:gd name="connsiteY6" fmla="*/ 60082 h 139039"/>
                <a:gd name="connsiteX7" fmla="*/ 0 w 139037"/>
                <a:gd name="connsiteY7" fmla="*/ 69520 h 139039"/>
                <a:gd name="connsiteX8" fmla="*/ 9437 w 139037"/>
                <a:gd name="connsiteY8" fmla="*/ 78957 h 139039"/>
                <a:gd name="connsiteX9" fmla="*/ 60082 w 139037"/>
                <a:gd name="connsiteY9" fmla="*/ 78957 h 139039"/>
                <a:gd name="connsiteX10" fmla="*/ 60082 w 139037"/>
                <a:gd name="connsiteY10" fmla="*/ 129602 h 139039"/>
                <a:gd name="connsiteX11" fmla="*/ 69519 w 139037"/>
                <a:gd name="connsiteY11" fmla="*/ 139039 h 139039"/>
                <a:gd name="connsiteX12" fmla="*/ 78955 w 139037"/>
                <a:gd name="connsiteY12" fmla="*/ 129602 h 139039"/>
                <a:gd name="connsiteX13" fmla="*/ 78955 w 139037"/>
                <a:gd name="connsiteY13" fmla="*/ 78957 h 139039"/>
                <a:gd name="connsiteX14" fmla="*/ 129600 w 139037"/>
                <a:gd name="connsiteY14" fmla="*/ 78957 h 139039"/>
                <a:gd name="connsiteX15" fmla="*/ 139037 w 139037"/>
                <a:gd name="connsiteY15" fmla="*/ 69520 h 139039"/>
                <a:gd name="connsiteX16" fmla="*/ 129600 w 139037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7" h="139039">
                  <a:moveTo>
                    <a:pt x="129600" y="60082"/>
                  </a:moveTo>
                  <a:lnTo>
                    <a:pt x="78955" y="60082"/>
                  </a:lnTo>
                  <a:lnTo>
                    <a:pt x="78955" y="9437"/>
                  </a:lnTo>
                  <a:cubicBezTo>
                    <a:pt x="78955" y="4225"/>
                    <a:pt x="74730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7" y="139039"/>
                    <a:pt x="69519" y="139039"/>
                  </a:cubicBezTo>
                  <a:cubicBezTo>
                    <a:pt x="74730" y="139039"/>
                    <a:pt x="78955" y="134814"/>
                    <a:pt x="78955" y="129602"/>
                  </a:cubicBezTo>
                  <a:lnTo>
                    <a:pt x="78955" y="78957"/>
                  </a:lnTo>
                  <a:lnTo>
                    <a:pt x="129600" y="78957"/>
                  </a:lnTo>
                  <a:cubicBezTo>
                    <a:pt x="134812" y="78957"/>
                    <a:pt x="139037" y="74731"/>
                    <a:pt x="139037" y="69520"/>
                  </a:cubicBezTo>
                  <a:cubicBezTo>
                    <a:pt x="139037" y="64308"/>
                    <a:pt x="134812" y="60082"/>
                    <a:pt x="129600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8" name="Graphic 21">
              <a:extLst>
                <a:ext uri="{FF2B5EF4-FFF2-40B4-BE49-F238E27FC236}">
                  <a16:creationId xmlns:a16="http://schemas.microsoft.com/office/drawing/2014/main" id="{8D61482F-F3C5-4D66-8C5D-C6BBE3E127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52801" y="1659316"/>
              <a:ext cx="127713" cy="127714"/>
            </a:xfrm>
            <a:custGeom>
              <a:avLst/>
              <a:gdLst>
                <a:gd name="connsiteX0" fmla="*/ 63857 w 127713"/>
                <a:gd name="connsiteY0" fmla="*/ 18874 h 127714"/>
                <a:gd name="connsiteX1" fmla="*/ 108839 w 127713"/>
                <a:gd name="connsiteY1" fmla="*/ 63857 h 127714"/>
                <a:gd name="connsiteX2" fmla="*/ 63857 w 127713"/>
                <a:gd name="connsiteY2" fmla="*/ 108840 h 127714"/>
                <a:gd name="connsiteX3" fmla="*/ 18874 w 127713"/>
                <a:gd name="connsiteY3" fmla="*/ 63857 h 127714"/>
                <a:gd name="connsiteX4" fmla="*/ 63857 w 127713"/>
                <a:gd name="connsiteY4" fmla="*/ 18874 h 127714"/>
                <a:gd name="connsiteX5" fmla="*/ 63857 w 127713"/>
                <a:gd name="connsiteY5" fmla="*/ 0 h 127714"/>
                <a:gd name="connsiteX6" fmla="*/ 0 w 127713"/>
                <a:gd name="connsiteY6" fmla="*/ 63857 h 127714"/>
                <a:gd name="connsiteX7" fmla="*/ 63857 w 127713"/>
                <a:gd name="connsiteY7" fmla="*/ 127714 h 127714"/>
                <a:gd name="connsiteX8" fmla="*/ 127713 w 127713"/>
                <a:gd name="connsiteY8" fmla="*/ 63857 h 127714"/>
                <a:gd name="connsiteX9" fmla="*/ 63857 w 127713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4">
                  <a:moveTo>
                    <a:pt x="63857" y="18874"/>
                  </a:moveTo>
                  <a:cubicBezTo>
                    <a:pt x="88700" y="18874"/>
                    <a:pt x="108839" y="39014"/>
                    <a:pt x="108839" y="63857"/>
                  </a:cubicBezTo>
                  <a:cubicBezTo>
                    <a:pt x="108839" y="88700"/>
                    <a:pt x="88700" y="108840"/>
                    <a:pt x="63857" y="108840"/>
                  </a:cubicBezTo>
                  <a:cubicBezTo>
                    <a:pt x="39013" y="108840"/>
                    <a:pt x="18874" y="88700"/>
                    <a:pt x="18874" y="63857"/>
                  </a:cubicBezTo>
                  <a:cubicBezTo>
                    <a:pt x="18898" y="39024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881390E-7674-3294-BF7D-A60C16E29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942" y="4762122"/>
            <a:ext cx="4845350" cy="1571755"/>
          </a:xfrm>
          <a:prstGeom prst="rect">
            <a:avLst/>
          </a:prstGeom>
        </p:spPr>
      </p:pic>
      <p:pic>
        <p:nvPicPr>
          <p:cNvPr id="7" name="Picture 6" descr="A close up of a device&#10;&#10;AI-generated content may be incorrect.">
            <a:extLst>
              <a:ext uri="{FF2B5EF4-FFF2-40B4-BE49-F238E27FC236}">
                <a16:creationId xmlns:a16="http://schemas.microsoft.com/office/drawing/2014/main" id="{AF2841FC-3C4F-27BE-915D-5ABD0C0966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12" t="23432" r="43166" b="26187"/>
          <a:stretch>
            <a:fillRect/>
          </a:stretch>
        </p:blipFill>
        <p:spPr>
          <a:xfrm>
            <a:off x="2056463" y="2991594"/>
            <a:ext cx="1213888" cy="1154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2F42AA-4E89-AEC2-0EFC-422087BCD0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3771" y="2286463"/>
            <a:ext cx="4111779" cy="386556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673514A-6C78-04E4-234D-3D93780132E8}"/>
              </a:ext>
            </a:extLst>
          </p:cNvPr>
          <p:cNvSpPr txBox="1"/>
          <p:nvPr/>
        </p:nvSpPr>
        <p:spPr>
          <a:xfrm>
            <a:off x="5771661" y="97678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1" dirty="0">
                <a:solidFill>
                  <a:srgbClr val="FFFFFF"/>
                </a:solidFill>
                <a:latin typeface="+mj-lt"/>
              </a:rPr>
              <a:t>What the sensor Does :</a:t>
            </a:r>
            <a:r>
              <a:rPr lang="en-US" sz="2800" i="1" dirty="0">
                <a:solidFill>
                  <a:srgbClr val="FFFFFF"/>
                </a:solidFill>
                <a:latin typeface="+mj-lt"/>
              </a:rPr>
              <a:t> Measures light intensity at multiple wavelengths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documentManagement/types"/>
    <ds:schemaRef ds:uri="16c05727-aa75-4e4a-9b5f-8a80a1165891"/>
    <ds:schemaRef ds:uri="http://purl.org/dc/dcmitype/"/>
    <ds:schemaRef ds:uri="http://schemas.microsoft.com/office/2006/metadata/properties"/>
    <ds:schemaRef ds:uri="http://purl.org/dc/terms/"/>
    <ds:schemaRef ds:uri="230e9df3-be65-4c73-a93b-d1236ebd677e"/>
    <ds:schemaRef ds:uri="71af3243-3dd4-4a8d-8c0d-dd76da1f02a5"/>
    <ds:schemaRef ds:uri="http://schemas.openxmlformats.org/package/2006/metadata/core-properties"/>
    <ds:schemaRef ds:uri="http://schemas.microsoft.com/office/infopath/2007/PartnerControls"/>
    <ds:schemaRef ds:uri="http://schemas.microsoft.com/sharepoint/v3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27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Name: Sarang Prajapati Sensor: AS726x Spectral Sensor  I²C Address: 0x49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Kush Patel</dc:creator>
  <cp:lastModifiedBy>Sarang Sureshbhai Prajapati</cp:lastModifiedBy>
  <cp:revision>7</cp:revision>
  <dcterms:created xsi:type="dcterms:W3CDTF">2025-11-25T13:58:29Z</dcterms:created>
  <dcterms:modified xsi:type="dcterms:W3CDTF">2025-11-27T18:37:04Z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